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6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88952" cy="45720"/>
          </a:xfrm>
          <a:prstGeom prst="rect">
            <a:avLst/>
          </a:prstGeom>
          <a:solidFill>
            <a:srgbClr val="216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ple SD Gothic Neo"/>
              </a:rPr>
              <a:t>법원경매 × 네이버 부동산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E6AC27"/>
                </a:solidFill>
                <a:latin typeface="Apple SD Gothic Neo"/>
              </a:rPr>
              <a:t>AI 상권분석 에이전트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46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CCFF"/>
                </a:solidFill>
                <a:latin typeface="Apple SD Gothic Neo"/>
              </a:rPr>
              <a:t>법원경매 물건 자동 수집  →  GPT-4.1-nano 권리분석  →  네이버 시세 비교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AADD"/>
                </a:solidFill>
                <a:latin typeface="Apple SD Gothic Neo"/>
              </a:rPr>
              <a:t>서울 5개 법원 + 경기도 순회 크롤링  |  Streamlit 대시보드  |  Hermes 24h 모니터링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754880"/>
            <a:ext cx="2286000" cy="1097280"/>
          </a:xfrm>
          <a:prstGeom prst="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846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6AC27"/>
                </a:solidFill>
                <a:latin typeface="Apple SD Gothic Neo"/>
              </a:rPr>
              <a:t>346건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BFF"/>
                </a:solidFill>
                <a:latin typeface="Apple SD Gothic Neo"/>
              </a:rPr>
              <a:t>경매 수집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4754880"/>
            <a:ext cx="2286000" cy="1097280"/>
          </a:xfrm>
          <a:prstGeom prst="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4846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6AC27"/>
                </a:solidFill>
                <a:latin typeface="Apple SD Gothic Neo"/>
              </a:rPr>
              <a:t>346건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BFF"/>
                </a:solidFill>
                <a:latin typeface="Apple SD Gothic Neo"/>
              </a:rPr>
              <a:t>AI 분석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4754880"/>
            <a:ext cx="2286000" cy="1097280"/>
          </a:xfrm>
          <a:prstGeom prst="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846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6AC27"/>
                </a:solidFill>
                <a:latin typeface="Apple SD Gothic Neo"/>
              </a:rPr>
              <a:t>592건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BFF"/>
                </a:solidFill>
                <a:latin typeface="Apple SD Gothic Neo"/>
              </a:rPr>
              <a:t>시세 수집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4754880"/>
            <a:ext cx="2286000" cy="1097280"/>
          </a:xfrm>
          <a:prstGeom prst="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4846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6AC27"/>
                </a:solidFill>
                <a:latin typeface="Apple SD Gothic Neo"/>
              </a:rPr>
              <a:t>5개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5349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BBFF"/>
                </a:solidFill>
                <a:latin typeface="Apple SD Gothic Neo"/>
              </a:rPr>
              <a:t>서울 법원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7799"/>
                </a:solidFill>
                <a:latin typeface="Apple SD Gothic Neo"/>
              </a:rPr>
              <a:t>2026. 06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</a:rPr>
              <a:t>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  <a:latin typeface="Apple SD Gothic Neo"/>
              </a:rPr>
              <a:t>왜 만들었나 — 문제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Apple SD Gothic Neo"/>
              </a:rPr>
              <a:t>2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03520" cy="22860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  <a:latin typeface="Apple SD Gothic Neo"/>
              </a:rPr>
              <a:t>기존의 불편함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pple SD Gothic Neo"/>
              </a:rPr>
              <a:t>  •  법원경매 사이트 — WebSquare 프레임워크 탓에 크롤링 불가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8483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pple SD Gothic Neo"/>
              </a:rPr>
              <a:t>  •  매물 수십~수백 건 중 좋은 물건 수작업 필터링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23744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pple SD Gothic Neo"/>
              </a:rPr>
              <a:t>  •  경매 낙찰가와 실제 시세 비교를 수작업으로 진행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62656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pple SD Gothic Neo"/>
              </a:rPr>
              <a:t>  •  권리분석(말소기준/대항력) 오판 시 금전 손실 위험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577840" cy="228600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344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7AE60"/>
                </a:solidFill>
                <a:latin typeface="Apple SD Gothic Neo"/>
              </a:rPr>
              <a:t>이 에이전트의 솔루션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459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7AE60"/>
                </a:solidFill>
                <a:latin typeface="Apple SD Gothic Neo"/>
              </a:rPr>
              <a:t>  ✓  Playwright + response 리스너로 XHR 직접 캡처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8483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7AE60"/>
                </a:solidFill>
                <a:latin typeface="Apple SD Gothic Neo"/>
              </a:rPr>
              <a:t>  ✓  GPT-4.1-nano 권리분석 → 0~100점 / A~D 등급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2374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7AE60"/>
                </a:solidFill>
                <a:latin typeface="Apple SD Gothic Neo"/>
              </a:rPr>
              <a:t>  ✓  네이버 부동산 API 역공학 → 동 단위 시세 자동 수집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6265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7AE60"/>
                </a:solidFill>
                <a:latin typeface="Apple SD Gothic Neo"/>
              </a:rPr>
              <a:t>  ✓  compare.py 할인율·수익률 자동 계산 및 랭킹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57600"/>
            <a:ext cx="11430000" cy="45720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794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Apple SD Gothic Neo"/>
              </a:rPr>
              <a:t>기술 스택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206240"/>
            <a:ext cx="2039112" cy="411480"/>
          </a:xfrm>
          <a:prstGeom prst="rect">
            <a:avLst/>
          </a:prstGeom>
          <a:solidFill>
            <a:srgbClr val="216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224528"/>
            <a:ext cx="1947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Python 3.12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42032" y="4206240"/>
            <a:ext cx="310896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87752" y="422452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Playwright + Stealth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88152" y="4206240"/>
            <a:ext cx="2990088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3872" y="4224528"/>
            <a:ext cx="2898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OpenAI GPT-4.1-nano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15400" y="4206240"/>
            <a:ext cx="1444752" cy="4114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4224528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SQLite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97312" y="4206240"/>
            <a:ext cx="1801368" cy="411480"/>
          </a:xfrm>
          <a:prstGeom prst="rect">
            <a:avLst/>
          </a:prstGeom>
          <a:solidFill>
            <a:srgbClr val="E6A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43032" y="4224528"/>
            <a:ext cx="1709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Streamlit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435840" y="4206240"/>
            <a:ext cx="1207008" cy="411480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81560" y="4224528"/>
            <a:ext cx="1115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ple SD Gothic Neo"/>
              </a:rPr>
              <a:t>Rich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800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Apple SD Gothic Neo"/>
              </a:rPr>
              <a:t>핵심 파일 구성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21208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ple SD Gothic Neo"/>
              </a:rPr>
              <a:t>auto_crawling.py   — 법원경매 크롤링 + DB + AI 분석 (1,438줄)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50468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ple SD Gothic Neo"/>
              </a:rPr>
              <a:t>naver_land_scraper.py   — 네이버 부동산 크롤링 (500줄)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797296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ple SD Gothic Neo"/>
              </a:rPr>
              <a:t>compare.py   — 경매 × 시세 비교 CLI (316줄)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089904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ple SD Gothic Neo"/>
              </a:rPr>
              <a:t>dashboard.py   — Streamlit 대시보드 (420줄)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38251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ple SD Gothic Neo"/>
              </a:rPr>
              <a:t>hermes_agent.py   — 24h 모니터링 에이전트 (384줄)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</a:rPr>
              <a:t>시스템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  <a:latin typeface="Apple SD Gothic Neo"/>
              </a:rPr>
              <a:t>5개 모듈 데이터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Apple SD Gothic Neo"/>
              </a:rPr>
              <a:t>3 / 12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</a:rPr>
              <a:t>법원경매 크롤링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  <a:latin typeface="Apple SD Gothic Neo"/>
              </a:rPr>
              <a:t>WebSquare 사이트 역공학 + 서울·경기 법원 순회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Apple SD Gothic Neo"/>
              </a:rPr>
              <a:t>4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03520" cy="5029200"/>
          </a:xfrm>
          <a:prstGeom prst="rect">
            <a:avLst/>
          </a:prstGeom>
          <a:solidFill>
            <a:srgbClr val="F7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Apple SD Gothic Neo"/>
              </a:rPr>
              <a:t>핵심 도전과제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4937760" cy="8229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6BE5"/>
                </a:solidFill>
                <a:latin typeface="Apple SD Gothic Neo"/>
              </a:rPr>
              <a:t>WebSquare 프레임워크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ple SD Gothic Neo"/>
              </a:rPr>
              <a:t>moveDtlPage(idx) → XHR 직접 캡처
page.on("response") 리스너 등록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34639"/>
            <a:ext cx="4937760" cy="8229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88035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6BE5"/>
                </a:solidFill>
                <a:latin typeface="Apple SD Gothic Neo"/>
              </a:rPr>
              <a:t>2번째 이후 항목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54679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ple SD Gothic Neo"/>
              </a:rPr>
              <a:t>첫 항목: response 리스너로 cortOfcCd 추출
이후: page.evaluate(fetch()) 직접 호출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86200"/>
            <a:ext cx="4937760" cy="8229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931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6BE5"/>
                </a:solidFill>
                <a:latin typeface="Apple SD Gothic Neo"/>
              </a:rPr>
              <a:t>법원 드롭다운 선택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062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ple SD Gothic Neo"/>
              </a:rPr>
              <a:t>setSelectedIndex(i) — 법원명 텍스트 매칭
B코드: 중앙(B000210) ~ 서부(B000250)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937759"/>
            <a:ext cx="4937760" cy="8229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98347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6BE5"/>
                </a:solidFill>
                <a:latin typeface="Apple SD Gothic Neo"/>
              </a:rPr>
              <a:t>비로그인 날짜 제한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257799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ple SD Gothic Neo"/>
              </a:rPr>
              <a:t>사이트 자체 제약 — 2주 이내만 허용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188720"/>
            <a:ext cx="5577840" cy="237744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2801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Apple SD Gothic Neo"/>
              </a:rPr>
              <a:t>캡처 API 엔드포인트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7373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16BE5"/>
                </a:solidFill>
                <a:latin typeface="Apple SD Gothic Neo"/>
              </a:rPr>
              <a:t>POST /pgj/pgj15B/selectAuctnCsSrchRslt.on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993391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ple SD Gothic Neo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24942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pple SD Gothic Neo"/>
              </a:rPr>
              <a:t>응답 구조: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50545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ple SD Gothic Neo"/>
              </a:rPr>
              <a:t>  csBaseInfo.csNo          사건번호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76148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ple SD Gothic Neo"/>
              </a:rPr>
              <a:t>  csBaseInfo.cortOfcCd     법원코드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0175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ple SD Gothic Neo"/>
              </a:rPr>
              <a:t>  dspslGdsDxdyInfo.fstPbancLwsDspslPrc  최저가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27355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ple SD Gothic Neo"/>
              </a:rPr>
              <a:t>  dstrtDemnInfo[].dstrtDemnLstprdYmd    말소기준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703320"/>
            <a:ext cx="5577840" cy="2377440"/>
          </a:xfrm>
          <a:prstGeom prst="rect">
            <a:avLst/>
          </a:prstGeom>
          <a:solidFill>
            <a:srgbClr val="F4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7947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Apple SD Gothic Neo"/>
              </a:rPr>
              <a:t>서울·경기 법원 커버리지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2519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Apple SD Gothic Neo"/>
              </a:rPr>
              <a:t>서울 5개: 중앙·동부·남부·북부·서부지방법원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54456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Apple SD Gothic Neo"/>
              </a:rPr>
              <a:t>경기 8개: 수원·성남·여주·평택·안산·안양·의정부·고양 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83717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ple SD Gothic Neo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129784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pple SD Gothic Neo"/>
              </a:rPr>
              <a:t>auction_items 테이블 주요 컬럼: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42239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ple SD Gothic Neo"/>
              </a:rPr>
              <a:t>  area_m2, legal_div_no, addr_sgg, addr_emd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7150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ple SD Gothic Neo"/>
              </a:rPr>
              <a:t>  ai_score, ai_grade, ai_verdict, ai_suggested_bid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</a:rPr>
              <a:t>AI 분석 엔진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  <a:latin typeface="Apple SD Gothic Neo"/>
              </a:rPr>
              <a:t>GPT-4.1-nano 권리분석 + 점수화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Apple SD Gothic Neo"/>
              </a:rPr>
              <a:t>5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474720" cy="5120640"/>
          </a:xfrm>
          <a:prstGeom prst="rect">
            <a:avLst/>
          </a:prstGeom>
          <a:solidFill>
            <a:srgbClr val="F7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Apple SD Gothic Neo"/>
              </a:rPr>
              <a:t>입력 (Input)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ple SD Gothic Neo"/>
              </a:rPr>
              <a:t>  •  사건번호 / 소재지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2140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ple SD Gothic Neo"/>
              </a:rPr>
              <a:t>  •  감정가 / 최저매각가격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0545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ple SD Gothic Neo"/>
              </a:rPr>
              <a:t>  •  유찰횟수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8950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ple SD Gothic Neo"/>
              </a:rPr>
              <a:t>  •  할인율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735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ple SD Gothic Neo"/>
              </a:rPr>
              <a:t>  •  위험등급 (SAFE/WARNING/CRITICAL)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57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ple SD Gothic Neo"/>
              </a:rPr>
              <a:t>  •  말소기준권리일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4164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ple SD Gothic Neo"/>
              </a:rPr>
              <a:t>  •  임차인 정보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42569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ple SD Gothic Neo"/>
              </a:rPr>
              <a:t>  •  자동 감지 경고 목록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1188720"/>
            <a:ext cx="3931920" cy="5120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280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AC27"/>
                </a:solidFill>
                <a:latin typeface="Apple SD Gothic Neo"/>
              </a:rPr>
              <a:t>GPT-4.1-nano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7373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FF"/>
                </a:solidFill>
                <a:latin typeface="Apple SD Gothic Neo"/>
              </a:rPr>
              <a:t>부동산 경매 전문가
+ 감정평가사 역할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3774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BBFF"/>
                </a:solidFill>
                <a:latin typeface="Apple SD Gothic Neo"/>
              </a:rPr>
              <a:t>JSON 형식 강제 응답
response_format={"type":"json_object"}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3063240"/>
            <a:ext cx="3474720" cy="384048"/>
          </a:xfrm>
          <a:prstGeom prst="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3108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AC27"/>
                </a:solidFill>
                <a:latin typeface="Apple SD Gothic Neo"/>
              </a:rPr>
              <a:t>최저가 모델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3566160"/>
            <a:ext cx="3474720" cy="384048"/>
          </a:xfrm>
          <a:prstGeom prst="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60" y="3611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7AE60"/>
                </a:solidFill>
                <a:latin typeface="Apple SD Gothic Neo"/>
              </a:rPr>
              <a:t>JSON 응답 보장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4069080"/>
            <a:ext cx="3474720" cy="384048"/>
          </a:xfrm>
          <a:prstGeom prst="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4114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16BE5"/>
                </a:solidFill>
                <a:latin typeface="Apple SD Gothic Neo"/>
              </a:rPr>
              <a:t>OpenAI SDK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9377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99CC"/>
                </a:solidFill>
                <a:latin typeface="Apple SD Gothic Neo"/>
              </a:rPr>
              <a:t>API 오류 시 → 룰 기반 백업
(권리등급 기반 점수 자동 할당)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1188720"/>
            <a:ext cx="3657600" cy="512064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  <a:latin typeface="Apple SD Gothic Neo"/>
              </a:rPr>
              <a:t>출력 (Output)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171907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688"/>
                </a:solidFill>
                <a:latin typeface="Apple SD Gothic Neo"/>
              </a:rPr>
              <a:t>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17190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ple SD Gothic Neo"/>
              </a:rPr>
              <a:t>0~100점  투자 종합 점수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2084831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688"/>
                </a:solidFill>
                <a:latin typeface="Apple SD Gothic Neo"/>
              </a:rPr>
              <a:t>grade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2084831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ple SD Gothic Neo"/>
              </a:rPr>
              <a:t>A/B/C/D  등급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2450591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688"/>
                </a:solidFill>
                <a:latin typeface="Apple SD Gothic Neo"/>
              </a:rPr>
              <a:t>verdict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2450591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ple SD Gothic Neo"/>
              </a:rPr>
              <a:t>한줄 판정 요약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281635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688"/>
                </a:solidFill>
                <a:latin typeface="Apple SD Gothic Neo"/>
              </a:rPr>
              <a:t>buy_signal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28163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ple SD Gothic Neo"/>
              </a:rPr>
              <a:t>True / False  즉시 입찰 신호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318211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688"/>
                </a:solidFill>
                <a:latin typeface="Apple SD Gothic Neo"/>
              </a:rPr>
              <a:t>expected_yield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318211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ple SD Gothic Neo"/>
              </a:rPr>
              <a:t>예상 실효 수익률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354787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688"/>
                </a:solidFill>
                <a:latin typeface="Apple SD Gothic Neo"/>
              </a:rPr>
              <a:t>suggested_bid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35478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ple SD Gothic Neo"/>
              </a:rPr>
              <a:t>추천 입찰가 범위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391363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688"/>
                </a:solidFill>
                <a:latin typeface="Apple SD Gothic Neo"/>
              </a:rPr>
              <a:t>extinguished_rights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6960" y="39136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ple SD Gothic Neo"/>
              </a:rPr>
              <a:t>말소 권리 목록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42793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688"/>
                </a:solidFill>
                <a:latin typeface="Apple SD Gothic Neo"/>
              </a:rPr>
              <a:t>retained_rights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66960" y="42793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ple SD Gothic Neo"/>
              </a:rPr>
              <a:t>인수 권리 목록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464515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688"/>
                </a:solidFill>
                <a:latin typeface="Apple SD Gothic Neo"/>
              </a:rPr>
              <a:t>key_points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66960" y="46451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ple SD Gothic Neo"/>
              </a:rPr>
              <a:t>가치 요인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501091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688"/>
                </a:solidFill>
                <a:latin typeface="Apple SD Gothic Neo"/>
              </a:rPr>
              <a:t>risks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66960" y="501091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ple SD Gothic Neo"/>
              </a:rPr>
              <a:t>현장·권리 리스크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6400800"/>
            <a:ext cx="11612880" cy="45720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</a:rPr>
              <a:t>AI 분석 결과 — 등급 분포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  <a:latin typeface="Apple SD Gothic Neo"/>
              </a:rPr>
              <a:t>실제 수집된 346건 기준 (2026-06)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Apple SD Gothic Neo"/>
              </a:rPr>
              <a:t>6 / 12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06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  <a:latin typeface="Apple SD Gothic Neo"/>
              </a:rPr>
              <a:t>★  A등급 81건 (23.4%) — 즉시 입찰 검토 대상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447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ple SD Gothic Neo"/>
              </a:rPr>
              <a:t>  D등급은 198건 (57.2%)으로 과반수 — 경매 시장 일반적 품질 분포 반영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</a:rPr>
              <a:t>네이버 부동산 크롤링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  <a:latin typeface="Apple SD Gothic Neo"/>
              </a:rPr>
              <a:t>역공학 API + Playwright Stealth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Apple SD Gothic Neo"/>
              </a:rPr>
              <a:t>7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03520" cy="5120640"/>
          </a:xfrm>
          <a:prstGeom prst="rect">
            <a:avLst/>
          </a:prstGeom>
          <a:solidFill>
            <a:srgbClr val="F0F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9688"/>
                </a:solidFill>
                <a:latin typeface="Apple SD Gothic Neo"/>
              </a:rPr>
              <a:t>크롤링 전략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4937760" cy="868680"/>
          </a:xfrm>
          <a:prstGeom prst="rect">
            <a:avLst/>
          </a:prstGeom>
          <a:solidFill>
            <a:srgbClr val="E0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688"/>
                </a:solidFill>
                <a:latin typeface="Apple SD Gothic Neo"/>
              </a:rPr>
              <a:t>1. 세션 획득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3055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ple SD Gothic Neo"/>
              </a:rPr>
              <a:t>fin.land.naver.com에서
Playwright Stealth로 쿠키·세션 확보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80360"/>
            <a:ext cx="4937760" cy="868680"/>
          </a:xfrm>
          <a:prstGeom prst="rect">
            <a:avLst/>
          </a:prstGeom>
          <a:solidFill>
            <a:srgbClr val="E0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92607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688"/>
                </a:solidFill>
                <a:latin typeface="Apple SD Gothic Neo"/>
              </a:rPr>
              <a:t>2. 법정동 코드 조회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2783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ple SD Gothic Neo"/>
              </a:rPr>
              <a:t>GET /legalDivision/searchByCoordinate
좌표 → Naver 내부 legalDivisionNumber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977639"/>
            <a:ext cx="4937760" cy="868680"/>
          </a:xfrm>
          <a:prstGeom prst="rect">
            <a:avLst/>
          </a:prstGeom>
          <a:solidFill>
            <a:srgbClr val="E0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02335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688"/>
                </a:solidFill>
                <a:latin typeface="Apple SD Gothic Neo"/>
              </a:rPr>
              <a:t>3. 매물 수집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32511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ple SD Gothic Neo"/>
              </a:rPr>
              <a:t>POST /front-api/v1/article/boundedArticles
page.evaluate(fetch()) — same-origin 필수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074920"/>
            <a:ext cx="4937760" cy="868680"/>
          </a:xfrm>
          <a:prstGeom prst="rect">
            <a:avLst/>
          </a:prstGeom>
          <a:solidFill>
            <a:srgbClr val="E0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1206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688"/>
                </a:solidFill>
                <a:latin typeface="Apple SD Gothic Neo"/>
              </a:rPr>
              <a:t>4. 페이지네이션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42239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ple SD Gothic Neo"/>
              </a:rPr>
              <a:t>articlePagingRequest.lastInfo 커서 방식
429 방지: context.request.post 불가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188720"/>
            <a:ext cx="5760720" cy="2468880"/>
          </a:xfrm>
          <a:prstGeom prst="rect">
            <a:avLst/>
          </a:prstGeom>
          <a:solidFill>
            <a:srgbClr val="F7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280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Apple SD Gothic Neo"/>
              </a:rPr>
              <a:t>Request 구조 (핵심)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737360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16BE5"/>
                </a:solidFill>
                <a:latin typeface="Apple SD Gothic Neo"/>
              </a:rPr>
              <a:t>filter.tradeTypes: ["A1","B1","B2"]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984248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16BE5"/>
                </a:solidFill>
                <a:latin typeface="Apple SD Gothic Neo"/>
              </a:rPr>
              <a:t>filter.realEstateTypes: ["D03","D04","E01","Z00"]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231136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A5A5A"/>
                </a:solidFill>
                <a:latin typeface="Apple SD Gothic Neo"/>
              </a:rPr>
              <a:t>  D03=상가/빌딩  D04=상가건물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478024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A5A5A"/>
                </a:solidFill>
                <a:latin typeface="Apple SD Gothic Neo"/>
              </a:rPr>
              <a:t>  E01=사무실      Z00=건물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724912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16BE5"/>
                </a:solidFill>
                <a:latin typeface="Apple SD Gothic Neo"/>
              </a:rPr>
              <a:t>filter.legalDivisionNumbers: ["4111312600"]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971800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16BE5"/>
                </a:solidFill>
                <a:latin typeface="Apple SD Gothic Neo"/>
              </a:rPr>
              <a:t>boundingBox: {left, right, top, bottom}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218688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16BE5"/>
                </a:solidFill>
                <a:latin typeface="Apple SD Gothic Neo"/>
              </a:rPr>
              <a:t>articlePagingRequest.size: 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3794760"/>
            <a:ext cx="5760720" cy="2377440"/>
          </a:xfrm>
          <a:prstGeom prst="rect">
            <a:avLst/>
          </a:prstGeom>
          <a:solidFill>
            <a:srgbClr val="F4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38862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  <a:latin typeface="Apple SD Gothic Neo"/>
              </a:rPr>
              <a:t>수집 커버리지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315968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  <a:latin typeface="Apple SD Gothic Neo"/>
              </a:rPr>
              <a:t>서울: 마포구, 구로구, 중구 (시범)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617720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  <a:latin typeface="Apple SD Gothic Neo"/>
              </a:rPr>
              <a:t>경기: 수원·성남·안양·용인·안산·구리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919472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  <a:latin typeface="Apple SD Gothic Neo"/>
              </a:rPr>
              <a:t>인천: 미추홀구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5221224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ple SD Gothic Neo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5522976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ple SD Gothic Neo"/>
              </a:rPr>
              <a:t>가격 단위: 원 → DB 저장 시 만원 변환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824728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ple SD Gothic Neo"/>
              </a:rPr>
              <a:t>naver_listings 592건 수집 완료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846320"/>
            <a:ext cx="530352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</a:rPr>
              <a:t>경매 × 시세 비교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  <a:latin typeface="Apple SD Gothic Neo"/>
              </a:rPr>
              <a:t>compare.py — 할인율 · 예상 수익률 자동 계산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Apple SD Gothic Neo"/>
              </a:rPr>
              <a:t>8 / 12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3200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" y="4434840"/>
            <a:ext cx="5303520" cy="219456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526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  <a:latin typeface="Apple SD Gothic Neo"/>
              </a:rPr>
              <a:t>할인율 계산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5604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pple SD Gothic Neo"/>
              </a:rPr>
              <a:t>할인율 = (1 - 최저매각가 / 감정가) × 100
예) 감정가 3억, 최저가 2억 1천만 → 30% 할인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9688"/>
                </a:solidFill>
                <a:latin typeface="Apple SD Gothic Neo"/>
              </a:rPr>
              <a:t>match: legal_div_no (법정동 코드) 일치 우선
폴백: addr_emd (읍면동명) 유사도 매칭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4434840"/>
            <a:ext cx="5303520" cy="2194560"/>
          </a:xfrm>
          <a:prstGeom prst="rect">
            <a:avLst/>
          </a:prstGeom>
          <a:solidFill>
            <a:srgbClr val="F7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526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6BE5"/>
                </a:solidFill>
                <a:latin typeface="Apple SD Gothic Neo"/>
              </a:rPr>
              <a:t>수익률 계산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95604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pple SD Gothic Neo"/>
              </a:rPr>
              <a:t>연수익률 = (월세 × 12 / 낙찰가) × 100
예) 낙찰가 2.1억, 월세 80만 → 연 4.6%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85216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9688"/>
                </a:solidFill>
                <a:latin typeface="Apple SD Gothic Neo"/>
              </a:rPr>
              <a:t>CLI 필터: --region, --min-yield, --max-bid
현재 108건 면적정보 보유 (비교 활성)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</a:rPr>
              <a:t>Streamlit 대시보드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  <a:latin typeface="Apple SD Gothic Neo"/>
              </a:rPr>
              <a:t>dashboard.py — 3탭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Apple SD Gothic Neo"/>
              </a:rPr>
              <a:t>9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566160" cy="5029200"/>
          </a:xfrm>
          <a:prstGeom prst="rect">
            <a:avLst/>
          </a:prstGeom>
          <a:solidFill>
            <a:srgbClr val="F7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566160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ple SD Gothic Neo"/>
              </a:rPr>
              <a:t>Tab 1
경매 물건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pple SD Gothic Neo"/>
              </a:rPr>
              <a:t>  •  AI 점수 내림차순 정렬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23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pple SD Gothic Neo"/>
              </a:rPr>
              <a:t>  •  감정가 / 최저가 / 할인율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26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pple SD Gothic Neo"/>
              </a:rPr>
              <a:t>  •  등급 배지 (A~D 색상 구분)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29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pple SD Gothic Neo"/>
              </a:rPr>
              <a:t>  •  유찰횟수 강조 표시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31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pple SD Gothic Neo"/>
              </a:rPr>
              <a:t>  •  소재지 필터 + 검색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188720"/>
            <a:ext cx="3566160" cy="5029200"/>
          </a:xfrm>
          <a:prstGeom prst="rect">
            <a:avLst/>
          </a:prstGeom>
          <a:solidFill>
            <a:srgbClr val="F7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188720"/>
            <a:ext cx="3566160" cy="640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2344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ple SD Gothic Neo"/>
              </a:rPr>
              <a:t>Tab 2
네이버 시세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pple SD Gothic Neo"/>
              </a:rPr>
              <a:t>  •  매물 목록 (전세/월세/매매)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423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pple SD Gothic Neo"/>
              </a:rPr>
              <a:t>  •  지역별 평균 시세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926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pple SD Gothic Neo"/>
              </a:rPr>
              <a:t>  •  면적 단위 (㎡ / 평)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429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pple SD Gothic Neo"/>
              </a:rPr>
              <a:t>  •  거래유형 필터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931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pple SD Gothic Neo"/>
              </a:rPr>
              <a:t>  •  최근 수집일 표시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188720"/>
            <a:ext cx="3566160" cy="5029200"/>
          </a:xfrm>
          <a:prstGeom prst="rect">
            <a:avLst/>
          </a:prstGeom>
          <a:solidFill>
            <a:srgbClr val="F7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188720"/>
            <a:ext cx="356616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12344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ple SD Gothic Neo"/>
              </a:rPr>
              <a:t>Tab 3
경매 × 시세 비교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pple SD Gothic Neo"/>
              </a:rPr>
              <a:t>  •  법정동 코드 매칭 결과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423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pple SD Gothic Neo"/>
              </a:rPr>
              <a:t>  •  경매 할인율 컬럼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926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pple SD Gothic Neo"/>
              </a:rPr>
              <a:t>  •  예상 월세 수익률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429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pple SD Gothic Neo"/>
              </a:rPr>
              <a:t>  •  매칭 네이버 매물 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931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pple SD Gothic Neo"/>
              </a:rPr>
              <a:t>  •  min-yield / max-bid 필터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Apple SD Gothic Neo"/>
              </a:rPr>
              <a:t>streamlit run dashboard.py  —  실시간 DB 읽기 (60초 캐시)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</a:rPr>
              <a:t>Hermes 모니터링 에이전트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  <a:latin typeface="Apple SD Gothic Neo"/>
              </a:rPr>
              <a:t>24시간 운영 감시 + Slack 알람 + Aider 자동 디버깅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Apple SD Gothic Neo"/>
              </a:rPr>
              <a:t>10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03520" cy="2926080"/>
          </a:xfrm>
          <a:prstGeom prst="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AC27"/>
                </a:solidFill>
                <a:latin typeface="Apple SD Gothic Neo"/>
              </a:rPr>
              <a:t>동작 방식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ple SD Gothic Neo"/>
              </a:rPr>
              <a:t>① logs/events.jsonl 30초마다 폴링 (커서 파일로 중복 방지)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ple SD Gothic Neo"/>
              </a:rPr>
              <a:t>② agent_inbox/hermes/ 리포트 파일 감지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ple SD Gothic Neo"/>
              </a:rPr>
              <a:t>③ 에러 카테고리별 Slack #ops-hermes 포맷 전송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46120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ple SD Gothic Neo"/>
              </a:rPr>
              <a:t>④ IP_BLOCK 2회 / PARSE_ERROR 3회 → Aider 태스크 자동 생성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206240"/>
            <a:ext cx="5303520" cy="201168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297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Apple SD Gothic Neo"/>
              </a:rPr>
              <a:t>에러 카테고리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7731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  <a:latin typeface="Apple SD Gothic Neo"/>
              </a:rPr>
              <a:t>🚨 IP_BLOCK: 크롤러 IP 차단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79" y="47731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1A2E"/>
                </a:solidFill>
                <a:latin typeface="Apple SD Gothic Neo"/>
              </a:rPr>
              <a:t>⚠️ PARSE_ERROR: 페이지 파싱 실패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41324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Apple SD Gothic Neo"/>
              </a:rPr>
              <a:t>🔶 API_ERROR: OpenAI API 오류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79" y="541324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Apple SD Gothic Neo"/>
              </a:rPr>
              <a:t>⏱ TIMEOUT: 응답 타임아웃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188720"/>
            <a:ext cx="5760720" cy="5029200"/>
          </a:xfrm>
          <a:prstGeom prst="rect">
            <a:avLst/>
          </a:prstGeom>
          <a:solidFill>
            <a:srgbClr val="F7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280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Apple SD Gothic Neo"/>
              </a:rPr>
              <a:t>Slack 메시지 구조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719072"/>
            <a:ext cx="5394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6BE5"/>
                </a:solidFill>
                <a:latin typeface="Apple SD Gothic Neo"/>
              </a:rPr>
              <a:t>attachment: color (카테고리별)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057400"/>
            <a:ext cx="5394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ple SD Gothic Neo"/>
              </a:rPr>
              <a:t>  title: "[Hermes] ⚠️ PARSE_ERROR 감지"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395728"/>
            <a:ext cx="5394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ple SD Gothic Neo"/>
              </a:rPr>
              <a:t>  fields: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734056"/>
            <a:ext cx="5394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ple SD Gothic Neo"/>
              </a:rPr>
              <a:t>    - 발생시각: 2026-06-18 02:31:44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072384"/>
            <a:ext cx="5394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ple SD Gothic Neo"/>
              </a:rPr>
              <a:t>    - 에러코드: PARSE_ERROR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410712"/>
            <a:ext cx="5394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ple SD Gothic Neo"/>
              </a:rPr>
              <a:t>    - 상세: XHR 응답 빈값 (case_number 누락)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749039"/>
            <a:ext cx="5394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ple SD Gothic Neo"/>
              </a:rPr>
              <a:t>    - 연속 발생: 3회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087368"/>
            <a:ext cx="5394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ple SD Gothic Neo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425696"/>
            <a:ext cx="5394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16BE5"/>
                </a:solidFill>
                <a:latin typeface="Apple SD Gothic Neo"/>
              </a:rPr>
              <a:t>→ 3회 초과 시: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764024"/>
            <a:ext cx="5394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ple SD Gothic Neo"/>
              </a:rPr>
              <a:t>  agent_inbox/aider/&lt;timestamp&gt;.json 생성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102352"/>
            <a:ext cx="5394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pple SD Gothic Neo"/>
              </a:rPr>
              <a:t>  Aider 자동 디버깅 태스크 큐잉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355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Apple SD Gothic Neo"/>
              </a:rPr>
              <a:t>실행 모드:  --once (일회성)  /  --summary (일일 요약)  /  상시 데몬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</a:rPr>
              <a:t>수집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  <a:latin typeface="Apple SD Gothic Neo"/>
              </a:rPr>
              <a:t>실제 DB 데이터 기준 (2026-06)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Apple SD Gothic Neo"/>
              </a:rPr>
              <a:t>11 / 12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943600" cy="2743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1612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ple SD Gothic Neo"/>
              </a:rPr>
              <a:t>AI 점수 상위 A등급 물건 예시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572768"/>
            <a:ext cx="1828800" cy="347472"/>
          </a:xfrm>
          <a:prstGeom prst="rect">
            <a:avLst/>
          </a:prstGeom>
          <a:solidFill>
            <a:srgbClr val="216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7" y="1600200"/>
            <a:ext cx="1792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</a:rPr>
              <a:t>사건번호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572768"/>
            <a:ext cx="1828800" cy="347472"/>
          </a:xfrm>
          <a:prstGeom prst="rect">
            <a:avLst/>
          </a:prstGeom>
          <a:solidFill>
            <a:srgbClr val="216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0767" y="1600200"/>
            <a:ext cx="1792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</a:rPr>
              <a:t>소재지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0" y="1572768"/>
            <a:ext cx="594360" cy="347472"/>
          </a:xfrm>
          <a:prstGeom prst="rect">
            <a:avLst/>
          </a:prstGeom>
          <a:solidFill>
            <a:srgbClr val="216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59567" y="1600200"/>
            <a:ext cx="557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</a:rPr>
              <a:t>AI점수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881360" y="1572768"/>
            <a:ext cx="914400" cy="347472"/>
          </a:xfrm>
          <a:prstGeom prst="rect">
            <a:avLst/>
          </a:prstGeom>
          <a:solidFill>
            <a:srgbClr val="216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99648" y="1600200"/>
            <a:ext cx="877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</a:rPr>
              <a:t>감정가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938528"/>
            <a:ext cx="5303520" cy="347472"/>
          </a:xfrm>
          <a:prstGeom prst="rect">
            <a:avLst/>
          </a:prstGeom>
          <a:solidFill>
            <a:srgbClr val="F7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7" y="1965960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  <a:latin typeface="Apple SD Gothic Neo"/>
              </a:rPr>
              <a:t>2022타경106133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7" y="1965960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  <a:latin typeface="Apple SD Gothic Neo"/>
              </a:rPr>
              <a:t>서울 종로구 평창동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59567" y="1965960"/>
            <a:ext cx="557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7AE60"/>
                </a:solidFill>
                <a:latin typeface="Apple SD Gothic Neo"/>
              </a:rPr>
              <a:t>85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99648" y="1965960"/>
            <a:ext cx="877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A1A2E"/>
                </a:solidFill>
                <a:latin typeface="Apple SD Gothic Neo"/>
              </a:rPr>
              <a:t>144.8억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304288"/>
            <a:ext cx="53035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7" y="2331720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  <a:latin typeface="Apple SD Gothic Neo"/>
              </a:rPr>
              <a:t>2022타경112823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7" y="2331720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  <a:latin typeface="Apple SD Gothic Neo"/>
              </a:rPr>
              <a:t>서울 성북구 삼선동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59567" y="2331720"/>
            <a:ext cx="557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7AE60"/>
                </a:solidFill>
                <a:latin typeface="Apple SD Gothic Neo"/>
              </a:rPr>
              <a:t>85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99648" y="2331720"/>
            <a:ext cx="877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A1A2E"/>
                </a:solidFill>
                <a:latin typeface="Apple SD Gothic Neo"/>
              </a:rPr>
              <a:t>31.1억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2670048"/>
            <a:ext cx="5303520" cy="347472"/>
          </a:xfrm>
          <a:prstGeom prst="rect">
            <a:avLst/>
          </a:prstGeom>
          <a:solidFill>
            <a:srgbClr val="F7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7" y="2697480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  <a:latin typeface="Apple SD Gothic Neo"/>
              </a:rPr>
              <a:t>2024타경102050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7" y="2697480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  <a:latin typeface="Apple SD Gothic Neo"/>
              </a:rPr>
              <a:t>경기 안양시 관양동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59567" y="2697480"/>
            <a:ext cx="557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7AE60"/>
                </a:solidFill>
                <a:latin typeface="Apple SD Gothic Neo"/>
              </a:rPr>
              <a:t>85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99648" y="2697480"/>
            <a:ext cx="877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A1A2E"/>
                </a:solidFill>
                <a:latin typeface="Apple SD Gothic Neo"/>
              </a:rPr>
              <a:t>128.0억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3035808"/>
            <a:ext cx="53035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7" y="3063240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  <a:latin typeface="Apple SD Gothic Neo"/>
              </a:rPr>
              <a:t>2024타경68541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7" y="3063240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  <a:latin typeface="Apple SD Gothic Neo"/>
              </a:rPr>
              <a:t>경기 안산시 월피동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59567" y="3063240"/>
            <a:ext cx="557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7AE60"/>
                </a:solidFill>
                <a:latin typeface="Apple SD Gothic Neo"/>
              </a:rPr>
              <a:t>85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99648" y="3063240"/>
            <a:ext cx="877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A1A2E"/>
                </a:solidFill>
                <a:latin typeface="Apple SD Gothic Neo"/>
              </a:rPr>
              <a:t>3.0억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401568"/>
            <a:ext cx="5303520" cy="347472"/>
          </a:xfrm>
          <a:prstGeom prst="rect">
            <a:avLst/>
          </a:prstGeom>
          <a:solidFill>
            <a:srgbClr val="F7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0527" y="3429000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  <a:latin typeface="Apple SD Gothic Neo"/>
              </a:rPr>
              <a:t>2023타경2513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0767" y="3429000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  <a:latin typeface="Apple SD Gothic Neo"/>
              </a:rPr>
              <a:t>경기 의정부시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59567" y="3429000"/>
            <a:ext cx="557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7AE60"/>
                </a:solidFill>
                <a:latin typeface="Apple SD Gothic Neo"/>
              </a:rPr>
              <a:t>85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99648" y="3429000"/>
            <a:ext cx="877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A1A2E"/>
                </a:solidFill>
                <a:latin typeface="Apple SD Gothic Neo"/>
              </a:rPr>
              <a:t>2.7억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931920"/>
            <a:ext cx="5943600" cy="260604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0233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  <a:latin typeface="Apple SD Gothic Neo"/>
              </a:rPr>
              <a:t>비교 분석 현황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46227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A5A5A"/>
                </a:solidFill>
                <a:latin typeface="Apple SD Gothic Neo"/>
              </a:rPr>
              <a:t>경매 전체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0" y="44622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A1A2E"/>
                </a:solidFill>
                <a:latin typeface="Apple SD Gothic Neo"/>
              </a:rPr>
              <a:t>346건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8463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A5A5A"/>
                </a:solidFill>
                <a:latin typeface="Apple SD Gothic Neo"/>
              </a:rPr>
              <a:t>AI 분석 완료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66160" y="48463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7AE60"/>
                </a:solidFill>
                <a:latin typeface="Apple SD Gothic Neo"/>
              </a:rPr>
              <a:t>346건 (100%)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23036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A5A5A"/>
                </a:solidFill>
                <a:latin typeface="Apple SD Gothic Neo"/>
              </a:rPr>
              <a:t>면적정보 보유 경매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66160" y="52303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16BE5"/>
                </a:solidFill>
                <a:latin typeface="Apple SD Gothic Neo"/>
              </a:rPr>
              <a:t>108건 → 비교 가능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61441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A5A5A"/>
                </a:solidFill>
                <a:latin typeface="Apple SD Gothic Neo"/>
              </a:rPr>
              <a:t>네이버 시세 매물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66160" y="56144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09688"/>
                </a:solidFill>
                <a:latin typeface="Apple SD Gothic Neo"/>
              </a:rPr>
              <a:t>592건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599846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A5A5A"/>
                </a:solidFill>
                <a:latin typeface="Apple SD Gothic Neo"/>
              </a:rPr>
              <a:t>경매×시세 매칭 가능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66160" y="599846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E6AC27"/>
                </a:solidFill>
                <a:latin typeface="Apple SD Gothic Neo"/>
              </a:rPr>
              <a:t>108건 경매 × 해당 지역 시세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3931920"/>
            <a:ext cx="5486400" cy="2606040"/>
          </a:xfrm>
          <a:prstGeom prst="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0" y="4023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AC27"/>
                </a:solidFill>
                <a:latin typeface="Apple SD Gothic Neo"/>
              </a:rPr>
              <a:t>네이버 시세 지역 커버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44622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ple SD Gothic Neo"/>
              </a:rPr>
              <a:t>마포구 150건  |  안양시 동안구 99건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48463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ple SD Gothic Neo"/>
              </a:rPr>
              <a:t>수원시 권선구 66건  |  성남시 분당구 62건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52303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ple SD Gothic Neo"/>
              </a:rPr>
              <a:t>구리시 57건  |  구로구 53건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0" y="561441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ple SD Gothic Neo"/>
              </a:rPr>
              <a:t>용인시 수지구 45건  |  안산시 단원구 34건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0" y="599846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pple SD Gothic Neo"/>
              </a:rPr>
              <a:t>인천 미추홀구 13건  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</a:rPr>
              <a:t>향후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FF"/>
                </a:solidFill>
                <a:latin typeface="Apple SD Gothic Neo"/>
              </a:rPr>
              <a:t>미해결 항목 및 개선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Apple SD Gothic Neo"/>
              </a:rPr>
              <a:t>12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56616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완료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3566160" cy="4389120"/>
          </a:xfrm>
          <a:prstGeom prst="rect">
            <a:avLst/>
          </a:prstGeom>
          <a:solidFill>
            <a:srgbClr val="F7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pple SD Gothic Neo"/>
              </a:rPr>
              <a:t>  •  서울 5개 법원 순회 크롤링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9572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pple SD Gothic Neo"/>
              </a:rPr>
              <a:t>  •  GPT-4.1-nano 권리분석 + 점수화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62656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pple SD Gothic Neo"/>
              </a:rPr>
              <a:t>  •  네이버 부동산 상가 시세 수집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29584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pple SD Gothic Neo"/>
              </a:rPr>
              <a:t>  •  compare.py 할인율·수익률 계산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9651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pple SD Gothic Neo"/>
              </a:rPr>
              <a:t>  •  Streamlit 3탭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pple SD Gothic Neo"/>
              </a:rPr>
              <a:t>  •  Hermes 모니터링 에이전트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188720"/>
            <a:ext cx="3566160" cy="502920"/>
          </a:xfrm>
          <a:prstGeom prst="rect">
            <a:avLst/>
          </a:prstGeom>
          <a:solidFill>
            <a:srgbClr val="E6A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2344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진행 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1691640"/>
            <a:ext cx="3566160" cy="4389120"/>
          </a:xfrm>
          <a:prstGeom prst="rect">
            <a:avLst/>
          </a:prstGeom>
          <a:solidFill>
            <a:srgbClr val="F7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18288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pple SD Gothic Neo"/>
              </a:rPr>
              <a:t>  •  area_m2 경기도 경매 재크롤링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39572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pple SD Gothic Neo"/>
              </a:rPr>
              <a:t>  •  → compare.py 비교 활성화 확대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962656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pple SD Gothic Neo"/>
              </a:rPr>
              <a:t>  •  주거용 임차인 파싱 검증
  (현재 토지 물건만 테스트)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188720"/>
            <a:ext cx="3566160" cy="502920"/>
          </a:xfrm>
          <a:prstGeom prst="rect">
            <a:avLst/>
          </a:prstGeom>
          <a:solidFill>
            <a:srgbClr val="216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12344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계획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691640"/>
            <a:ext cx="3566160" cy="4389120"/>
          </a:xfrm>
          <a:prstGeom prst="rect">
            <a:avLst/>
          </a:prstGeom>
          <a:solidFill>
            <a:srgbClr val="F7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8288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pple SD Gothic Neo"/>
              </a:rPr>
              <a:t>  •  로그인 연동 → 2주 날짜 제한 해제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39572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pple SD Gothic Neo"/>
              </a:rPr>
              <a:t>  •  경기 법원 B코드 확정
  (수원·성남·안양지원)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962656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pple SD Gothic Neo"/>
              </a:rPr>
              <a:t>  •  서울 상권 시세 커버리지 확대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529584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pple SD Gothic Neo"/>
              </a:rPr>
              <a:t>  •  자동 일일 크롤링 스케줄러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096512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pple SD Gothic Neo"/>
              </a:rPr>
              <a:t>  •  카카오톡 / 텔레그램 알람 연동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217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2E"/>
                </a:solidFill>
                <a:latin typeface="Apple SD Gothic Neo"/>
              </a:rPr>
              <a:t>목표: 법원경매 물건 탐색 시간 90% 단축  —  수익성 있는 물건만 자동 필터링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